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0" r:id="rId4"/>
    <p:sldId id="262" r:id="rId5"/>
    <p:sldId id="264" r:id="rId6"/>
    <p:sldId id="266" r:id="rId7"/>
    <p:sldId id="268" r:id="rId8"/>
    <p:sldId id="279" r:id="rId9"/>
  </p:sldIdLst>
  <p:sldSz cx="18288000" cy="10287000"/>
  <p:notesSz cx="6858000" cy="9144000"/>
  <p:embeddedFontLst>
    <p:embeddedFont>
      <p:font typeface="Montserrat Bold" panose="020B0604020202020204" charset="0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golian Baiti" panose="03000500000000000000" pitchFamily="66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E8F0"/>
    <a:srgbClr val="93CDDD"/>
    <a:srgbClr val="31859C"/>
    <a:srgbClr val="BFE1EB"/>
    <a:srgbClr val="D3EAF1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748" y="6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5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58116"/>
            <a:ext cx="6537006" cy="652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34"/>
              </a:lnSpc>
            </a:pPr>
            <a:r>
              <a:rPr lang="en-US" sz="6500" dirty="0">
                <a:solidFill>
                  <a:srgbClr val="191769"/>
                </a:solidFill>
                <a:latin typeface="Montserrat Bold"/>
              </a:rPr>
              <a:t>NUEVO COMPAÑEROS</a:t>
            </a:r>
          </a:p>
          <a:p>
            <a:pPr>
              <a:lnSpc>
                <a:spcPts val="6434"/>
              </a:lnSpc>
            </a:pPr>
            <a:endParaRPr lang="en-US" sz="6500" dirty="0">
              <a:solidFill>
                <a:srgbClr val="191769"/>
              </a:solidFill>
              <a:latin typeface="Montserrat Bold"/>
            </a:endParaRPr>
          </a:p>
          <a:p>
            <a:pPr>
              <a:lnSpc>
                <a:spcPts val="6434"/>
              </a:lnSpc>
            </a:pPr>
            <a:r>
              <a:rPr lang="en-US" sz="6500" dirty="0">
                <a:solidFill>
                  <a:srgbClr val="191769"/>
                </a:solidFill>
                <a:latin typeface="Montserrat Bold"/>
              </a:rPr>
              <a:t>El plural de </a:t>
            </a:r>
            <a:r>
              <a:rPr lang="en-US" sz="6500" dirty="0" err="1">
                <a:solidFill>
                  <a:srgbClr val="191769"/>
                </a:solidFill>
                <a:latin typeface="Montserrat Bold"/>
              </a:rPr>
              <a:t>nombres</a:t>
            </a:r>
            <a:r>
              <a:rPr lang="en-US" sz="6500" dirty="0">
                <a:solidFill>
                  <a:srgbClr val="191769"/>
                </a:solidFill>
                <a:latin typeface="Montserrat Bold"/>
              </a:rPr>
              <a:t> y </a:t>
            </a:r>
            <a:r>
              <a:rPr lang="en-US" sz="6500" dirty="0" err="1" smtClean="0">
                <a:solidFill>
                  <a:srgbClr val="191769"/>
                </a:solidFill>
                <a:latin typeface="Montserrat Bold"/>
              </a:rPr>
              <a:t>adjetivos</a:t>
            </a:r>
            <a:r>
              <a:rPr lang="en-US" sz="6500" smtClean="0">
                <a:solidFill>
                  <a:srgbClr val="191769"/>
                </a:solidFill>
                <a:latin typeface="Montserrat Bold"/>
              </a:rPr>
              <a:t> </a:t>
            </a:r>
            <a:endParaRPr lang="en-US" sz="6500">
              <a:solidFill>
                <a:srgbClr val="191769"/>
              </a:solidFill>
              <a:latin typeface="Montserrat Bold"/>
            </a:endParaRPr>
          </a:p>
          <a:p>
            <a:pPr>
              <a:lnSpc>
                <a:spcPts val="6268"/>
              </a:lnSpc>
            </a:pPr>
            <a:endParaRPr lang="en-US" sz="6500" dirty="0">
              <a:solidFill>
                <a:srgbClr val="191769"/>
              </a:solidFill>
              <a:latin typeface="Montserrat Bold"/>
            </a:endParaRPr>
          </a:p>
          <a:p>
            <a:pPr marL="0" lvl="0" indent="0" algn="l">
              <a:lnSpc>
                <a:spcPts val="6268"/>
              </a:lnSpc>
              <a:spcBef>
                <a:spcPct val="0"/>
              </a:spcBef>
            </a:pPr>
            <a:endParaRPr lang="en-US" sz="6500" dirty="0">
              <a:solidFill>
                <a:srgbClr val="191769"/>
              </a:solidFill>
              <a:latin typeface="Montserrat Bold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5029200" y="-22339"/>
            <a:ext cx="13279131" cy="10327059"/>
            <a:chOff x="5029200" y="-22339"/>
            <a:chExt cx="13279131" cy="10327059"/>
          </a:xfrm>
        </p:grpSpPr>
        <p:sp>
          <p:nvSpPr>
            <p:cNvPr id="15" name="AutoShape 3"/>
            <p:cNvSpPr/>
            <p:nvPr/>
          </p:nvSpPr>
          <p:spPr>
            <a:xfrm>
              <a:off x="7985449" y="4123186"/>
              <a:ext cx="2057711" cy="2054605"/>
            </a:xfrm>
            <a:prstGeom prst="rect">
              <a:avLst/>
            </a:prstGeom>
            <a:solidFill>
              <a:srgbClr val="62A25D"/>
            </a:solidFill>
          </p:spPr>
        </p:sp>
        <p:sp>
          <p:nvSpPr>
            <p:cNvPr id="16" name="AutoShape 4"/>
            <p:cNvSpPr/>
            <p:nvPr/>
          </p:nvSpPr>
          <p:spPr>
            <a:xfrm>
              <a:off x="5029200" y="7311860"/>
              <a:ext cx="1781447" cy="2971276"/>
            </a:xfrm>
            <a:prstGeom prst="rect">
              <a:avLst/>
            </a:prstGeom>
            <a:solidFill>
              <a:srgbClr val="FFC924"/>
            </a:solidFill>
          </p:spPr>
        </p:sp>
        <p:pic>
          <p:nvPicPr>
            <p:cNvPr id="17" name="Picture 13"/>
            <p:cNvPicPr>
              <a:picLocks noChangeAspect="1"/>
            </p:cNvPicPr>
            <p:nvPr/>
          </p:nvPicPr>
          <p:blipFill>
            <a:blip r:embed="rId2"/>
            <a:srcRect l="18532" t="17112" r="16502" b="16298"/>
            <a:stretch>
              <a:fillRect/>
            </a:stretch>
          </p:blipFill>
          <p:spPr>
            <a:xfrm>
              <a:off x="16223290" y="8157461"/>
              <a:ext cx="2077599" cy="2129539"/>
            </a:xfrm>
            <a:prstGeom prst="rect">
              <a:avLst/>
            </a:prstGeom>
          </p:spPr>
        </p:pic>
        <p:sp>
          <p:nvSpPr>
            <p:cNvPr id="18" name="AutoShape 14"/>
            <p:cNvSpPr/>
            <p:nvPr/>
          </p:nvSpPr>
          <p:spPr>
            <a:xfrm>
              <a:off x="16108355" y="6205030"/>
              <a:ext cx="2172646" cy="1984405"/>
            </a:xfrm>
            <a:prstGeom prst="rect">
              <a:avLst/>
            </a:prstGeom>
            <a:solidFill>
              <a:srgbClr val="92EDD3"/>
            </a:solidFill>
          </p:spPr>
        </p:sp>
        <p:pic>
          <p:nvPicPr>
            <p:cNvPr id="19" name="Imagen 18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19" t="9903" r="31237" b="31593"/>
            <a:stretch/>
          </p:blipFill>
          <p:spPr>
            <a:xfrm>
              <a:off x="12100870" y="6145933"/>
              <a:ext cx="4007484" cy="4141067"/>
            </a:xfrm>
            <a:prstGeom prst="rect">
              <a:avLst/>
            </a:prstGeom>
          </p:spPr>
        </p:pic>
        <p:sp>
          <p:nvSpPr>
            <p:cNvPr id="20" name="AutoShape 5"/>
            <p:cNvSpPr/>
            <p:nvPr/>
          </p:nvSpPr>
          <p:spPr>
            <a:xfrm>
              <a:off x="9899516" y="6173772"/>
              <a:ext cx="2231153" cy="4130948"/>
            </a:xfrm>
            <a:prstGeom prst="rect">
              <a:avLst/>
            </a:prstGeom>
            <a:solidFill>
              <a:srgbClr val="FDCBDF"/>
            </a:solidFill>
          </p:spPr>
        </p:sp>
        <p:pic>
          <p:nvPicPr>
            <p:cNvPr id="21" name="Imagen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23" t="-101" r="23555" b="34064"/>
            <a:stretch/>
          </p:blipFill>
          <p:spPr>
            <a:xfrm>
              <a:off x="13271689" y="0"/>
              <a:ext cx="5029200" cy="4267200"/>
            </a:xfrm>
            <a:prstGeom prst="rect">
              <a:avLst/>
            </a:prstGeom>
          </p:spPr>
        </p:pic>
        <p:sp>
          <p:nvSpPr>
            <p:cNvPr id="22" name="AutoShape 7"/>
            <p:cNvSpPr/>
            <p:nvPr/>
          </p:nvSpPr>
          <p:spPr>
            <a:xfrm>
              <a:off x="11642565" y="-22339"/>
              <a:ext cx="2057711" cy="2068582"/>
            </a:xfrm>
            <a:prstGeom prst="rect">
              <a:avLst/>
            </a:prstGeom>
            <a:solidFill>
              <a:srgbClr val="469BD8"/>
            </a:solidFill>
          </p:spPr>
        </p:sp>
        <p:pic>
          <p:nvPicPr>
            <p:cNvPr id="23" name="Imagen 22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85" t="18889" r="28271" b="27778"/>
            <a:stretch/>
          </p:blipFill>
          <p:spPr>
            <a:xfrm>
              <a:off x="6248400" y="6177797"/>
              <a:ext cx="4223347" cy="4109203"/>
            </a:xfrm>
            <a:prstGeom prst="rect">
              <a:avLst/>
            </a:prstGeom>
          </p:spPr>
        </p:pic>
        <p:pic>
          <p:nvPicPr>
            <p:cNvPr id="24" name="Imagen 2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18" t="2592" r="42592" b="42592"/>
            <a:stretch/>
          </p:blipFill>
          <p:spPr>
            <a:xfrm>
              <a:off x="9524842" y="1593358"/>
              <a:ext cx="4175434" cy="4611672"/>
            </a:xfrm>
            <a:prstGeom prst="rect">
              <a:avLst/>
            </a:prstGeom>
          </p:spPr>
        </p:pic>
        <p:sp>
          <p:nvSpPr>
            <p:cNvPr id="25" name="AutoShape 6"/>
            <p:cNvSpPr/>
            <p:nvPr/>
          </p:nvSpPr>
          <p:spPr>
            <a:xfrm>
              <a:off x="13694276" y="4134675"/>
              <a:ext cx="4614055" cy="2054605"/>
            </a:xfrm>
            <a:prstGeom prst="rect">
              <a:avLst/>
            </a:prstGeom>
            <a:solidFill>
              <a:srgbClr val="29285D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3345244" y="2019300"/>
            <a:ext cx="1960141" cy="4114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7816215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>
                <a:solidFill>
                  <a:schemeClr val="accent6"/>
                </a:solidFill>
                <a:latin typeface="Montserrat Bold"/>
              </a:rPr>
              <a:t>El</a:t>
            </a:r>
            <a:r>
              <a:rPr lang="en-US" sz="6500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teléfon</a:t>
            </a:r>
            <a:r>
              <a:rPr lang="en-US" sz="6500" spc="-162" dirty="0" err="1">
                <a:solidFill>
                  <a:schemeClr val="accent6"/>
                </a:solidFill>
                <a:latin typeface="Montserrat Bold"/>
              </a:rPr>
              <a:t>o</a:t>
            </a:r>
            <a:endParaRPr lang="en-US" sz="6500" spc="-162" dirty="0">
              <a:solidFill>
                <a:schemeClr val="accent6"/>
              </a:solidFill>
              <a:latin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44000" y="7816216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>
                <a:solidFill>
                  <a:schemeClr val="accent6"/>
                </a:solidFill>
                <a:latin typeface="Montserrat Bold"/>
              </a:rPr>
              <a:t>Los</a:t>
            </a:r>
            <a:r>
              <a:rPr lang="en-US" sz="6500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teléfon</a:t>
            </a:r>
            <a:r>
              <a:rPr lang="en-US" sz="6500" spc="-162" dirty="0" err="1">
                <a:solidFill>
                  <a:schemeClr val="accent6"/>
                </a:solidFill>
                <a:latin typeface="Montserrat Bold"/>
              </a:rPr>
              <a:t>os</a:t>
            </a:r>
            <a:endParaRPr lang="en-US" sz="6500" spc="-162" dirty="0">
              <a:solidFill>
                <a:schemeClr val="accent6"/>
              </a:solidFill>
              <a:latin typeface="Montserrat 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-700186">
            <a:off x="11762501" y="1933381"/>
            <a:ext cx="1960141" cy="411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13138465" y="1777669"/>
            <a:ext cx="1960141" cy="411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2128689">
            <a:off x="14118536" y="2206142"/>
            <a:ext cx="1960141" cy="4114800"/>
          </a:xfrm>
          <a:prstGeom prst="rect">
            <a:avLst/>
          </a:prstGeom>
        </p:spPr>
      </p:pic>
      <p:pic>
        <p:nvPicPr>
          <p:cNvPr id="10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7077243" y="3762616"/>
            <a:ext cx="3311904" cy="1001851"/>
          </a:xfrm>
          <a:prstGeom prst="rect">
            <a:avLst/>
          </a:prstGeom>
        </p:spPr>
      </p:pic>
      <p:sp>
        <p:nvSpPr>
          <p:cNvPr id="11" name="TextBox 4"/>
          <p:cNvSpPr txBox="1"/>
          <p:nvPr/>
        </p:nvSpPr>
        <p:spPr>
          <a:xfrm>
            <a:off x="0" y="8554029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 err="1" smtClean="0">
                <a:latin typeface="Montserrat Bold"/>
              </a:rPr>
              <a:t>nuev</a:t>
            </a:r>
            <a:r>
              <a:rPr lang="en-US" sz="6500" spc="-162" dirty="0" err="1" smtClean="0">
                <a:solidFill>
                  <a:schemeClr val="accent6"/>
                </a:solidFill>
                <a:latin typeface="Montserrat Bold"/>
              </a:rPr>
              <a:t>o</a:t>
            </a:r>
            <a:endParaRPr lang="en-US" sz="6500" spc="-162" dirty="0">
              <a:solidFill>
                <a:schemeClr val="accent6"/>
              </a:solidFill>
              <a:latin typeface="Montserrat Bold"/>
            </a:endParaRPr>
          </a:p>
        </p:txBody>
      </p:sp>
      <p:sp>
        <p:nvSpPr>
          <p:cNvPr id="12" name="TextBox 4"/>
          <p:cNvSpPr txBox="1"/>
          <p:nvPr/>
        </p:nvSpPr>
        <p:spPr>
          <a:xfrm>
            <a:off x="9144001" y="8495888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 err="1" smtClean="0">
                <a:latin typeface="Montserrat Bold"/>
              </a:rPr>
              <a:t>nuev</a:t>
            </a:r>
            <a:r>
              <a:rPr lang="en-US" sz="6500" spc="-162" dirty="0" err="1" smtClean="0">
                <a:solidFill>
                  <a:schemeClr val="accent6"/>
                </a:solidFill>
                <a:latin typeface="Montserrat Bold"/>
              </a:rPr>
              <a:t>os</a:t>
            </a:r>
            <a:endParaRPr lang="en-US" sz="6500" spc="-162" dirty="0">
              <a:solidFill>
                <a:schemeClr val="accent6"/>
              </a:solidFill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44200" y="1682536"/>
            <a:ext cx="5927240" cy="444543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47800" y="1790700"/>
            <a:ext cx="5927240" cy="395272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865813" y="7810499"/>
            <a:ext cx="3091214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6"/>
                </a:solidFill>
                <a:latin typeface="Montserrat Bold"/>
              </a:rPr>
              <a:t>La</a:t>
            </a:r>
            <a:r>
              <a:rPr lang="en-US" sz="6499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499" spc="-162" dirty="0">
                <a:latin typeface="Montserrat Bold"/>
              </a:rPr>
              <a:t>cas</a:t>
            </a:r>
            <a:r>
              <a:rPr lang="en-US" sz="6499" spc="-162" dirty="0">
                <a:solidFill>
                  <a:schemeClr val="accent6"/>
                </a:solidFill>
                <a:latin typeface="Montserrat Bold"/>
              </a:rPr>
              <a:t>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96172" y="7810499"/>
            <a:ext cx="4053427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>
                <a:solidFill>
                  <a:schemeClr val="accent6"/>
                </a:solidFill>
                <a:latin typeface="Montserrat Bold"/>
              </a:rPr>
              <a:t>Las</a:t>
            </a:r>
            <a:r>
              <a:rPr lang="en-US" sz="6500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500" spc="-162" dirty="0">
                <a:latin typeface="Montserrat Bold"/>
              </a:rPr>
              <a:t>cas</a:t>
            </a:r>
            <a:r>
              <a:rPr lang="en-US" sz="6500" spc="-162" dirty="0">
                <a:solidFill>
                  <a:schemeClr val="accent6"/>
                </a:solidFill>
                <a:latin typeface="Montserrat Bold"/>
              </a:rPr>
              <a:t>as</a:t>
            </a:r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7403668" y="3753348"/>
            <a:ext cx="3311904" cy="1001851"/>
          </a:xfrm>
          <a:prstGeom prst="rect">
            <a:avLst/>
          </a:prstGeom>
        </p:spPr>
      </p:pic>
      <p:sp>
        <p:nvSpPr>
          <p:cNvPr id="9" name="TextBox 5"/>
          <p:cNvSpPr txBox="1"/>
          <p:nvPr/>
        </p:nvSpPr>
        <p:spPr>
          <a:xfrm>
            <a:off x="1411798" y="8484026"/>
            <a:ext cx="5955868" cy="715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 err="1" smtClean="0">
                <a:latin typeface="Montserrat Bold"/>
              </a:rPr>
              <a:t>grande</a:t>
            </a:r>
            <a:endParaRPr lang="en-US" sz="6499" spc="-162" dirty="0">
              <a:latin typeface="Montserrat Bold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11658388" y="8483962"/>
            <a:ext cx="4098864" cy="715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 err="1" smtClean="0">
                <a:latin typeface="Montserrat Bold"/>
              </a:rPr>
              <a:t>grande</a:t>
            </a:r>
            <a:r>
              <a:rPr lang="en-US" sz="6500" spc="-162" dirty="0" err="1" smtClean="0">
                <a:solidFill>
                  <a:schemeClr val="accent6"/>
                </a:solidFill>
                <a:latin typeface="Montserrat Bold"/>
              </a:rPr>
              <a:t>s</a:t>
            </a:r>
            <a:endParaRPr lang="en-US" sz="6500" spc="-162" dirty="0">
              <a:solidFill>
                <a:schemeClr val="accent6"/>
              </a:solidFill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11780044" y="1943100"/>
            <a:ext cx="3986212" cy="411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2595498" y="1943100"/>
            <a:ext cx="3755690" cy="4114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059748" y="7832614"/>
            <a:ext cx="5026851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6"/>
                </a:solidFill>
                <a:latin typeface="Montserrat Bold"/>
              </a:rPr>
              <a:t>El</a:t>
            </a:r>
            <a:r>
              <a:rPr lang="en-US" sz="6499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cuadern</a:t>
            </a:r>
            <a:r>
              <a:rPr lang="en-US" sz="6499" spc="-162" dirty="0" err="1">
                <a:solidFill>
                  <a:schemeClr val="accent6"/>
                </a:solidFill>
                <a:latin typeface="Montserrat Bold"/>
              </a:rPr>
              <a:t>o</a:t>
            </a:r>
            <a:endParaRPr lang="en-US" sz="6499" spc="-162" dirty="0">
              <a:solidFill>
                <a:schemeClr val="accent6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20400" y="7832614"/>
            <a:ext cx="6096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6"/>
                </a:solidFill>
                <a:latin typeface="Montserrat Bold"/>
              </a:rPr>
              <a:t>Los</a:t>
            </a:r>
            <a:r>
              <a:rPr lang="en-US" sz="6499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cuadern</a:t>
            </a:r>
            <a:r>
              <a:rPr lang="en-US" sz="6499" spc="-162" dirty="0" err="1">
                <a:solidFill>
                  <a:schemeClr val="accent6"/>
                </a:solidFill>
                <a:latin typeface="Montserrat Bold"/>
              </a:rPr>
              <a:t>os</a:t>
            </a:r>
            <a:endParaRPr lang="en-US" sz="6499" spc="-162" dirty="0">
              <a:solidFill>
                <a:schemeClr val="accent6"/>
              </a:solidFill>
              <a:latin typeface="Montserrat Bold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/>
          <a:stretch>
            <a:fillRect/>
          </a:stretch>
        </p:blipFill>
        <p:spPr>
          <a:xfrm>
            <a:off x="7403668" y="3753348"/>
            <a:ext cx="3311904" cy="1001851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2081871" y="8648700"/>
            <a:ext cx="5103051" cy="715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 err="1" smtClean="0">
                <a:latin typeface="Montserrat Bold"/>
              </a:rPr>
              <a:t>azul</a:t>
            </a:r>
            <a:endParaRPr lang="en-US" sz="6499" spc="-162" dirty="0">
              <a:latin typeface="Montserrat Bold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0842523" y="8648700"/>
            <a:ext cx="6096000" cy="715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 err="1" smtClean="0">
                <a:latin typeface="Montserrat Bold"/>
              </a:rPr>
              <a:t>azul</a:t>
            </a:r>
            <a:r>
              <a:rPr lang="en-US" sz="6499" spc="-162" dirty="0" err="1" smtClean="0">
                <a:solidFill>
                  <a:schemeClr val="accent6"/>
                </a:solidFill>
                <a:latin typeface="Montserrat Bold"/>
              </a:rPr>
              <a:t>es</a:t>
            </a:r>
            <a:endParaRPr lang="en-US" sz="6499" spc="-162" dirty="0">
              <a:solidFill>
                <a:schemeClr val="accent6"/>
              </a:solidFill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8751" y="2379652"/>
            <a:ext cx="5443544" cy="374924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2800" y="2400300"/>
            <a:ext cx="5853045" cy="39032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995642" y="7878433"/>
            <a:ext cx="4082557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>
                <a:solidFill>
                  <a:schemeClr val="accent6"/>
                </a:solidFill>
                <a:latin typeface="Montserrat Bold"/>
              </a:rPr>
              <a:t>Las</a:t>
            </a:r>
            <a:r>
              <a:rPr lang="en-US" sz="6500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niñ</a:t>
            </a:r>
            <a:r>
              <a:rPr lang="en-US" sz="6500" spc="-162" dirty="0" err="1">
                <a:solidFill>
                  <a:schemeClr val="accent6"/>
                </a:solidFill>
                <a:latin typeface="Montserrat Bold"/>
              </a:rPr>
              <a:t>as</a:t>
            </a:r>
            <a:endParaRPr lang="en-US" sz="6500" spc="-162" dirty="0">
              <a:solidFill>
                <a:schemeClr val="accent6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819400" y="7878434"/>
            <a:ext cx="3022247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>
                <a:solidFill>
                  <a:schemeClr val="accent6"/>
                </a:solidFill>
                <a:latin typeface="Montserrat Bold"/>
              </a:rPr>
              <a:t>La</a:t>
            </a:r>
            <a:r>
              <a:rPr lang="en-US" sz="6500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niñ</a:t>
            </a:r>
            <a:r>
              <a:rPr lang="en-US" sz="6500" spc="-162" dirty="0" err="1">
                <a:solidFill>
                  <a:schemeClr val="accent6"/>
                </a:solidFill>
                <a:latin typeface="Montserrat Bold"/>
              </a:rPr>
              <a:t>a</a:t>
            </a:r>
            <a:endParaRPr lang="en-US" sz="6500" spc="-162" dirty="0">
              <a:solidFill>
                <a:schemeClr val="accent6"/>
              </a:solidFill>
              <a:latin typeface="Montserrat Bold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7403668" y="3753348"/>
            <a:ext cx="3311904" cy="1001851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11891226" y="8648700"/>
            <a:ext cx="4182057" cy="715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 err="1" smtClean="0">
                <a:latin typeface="Montserrat Bold"/>
              </a:rPr>
              <a:t>pequeñ</a:t>
            </a:r>
            <a:r>
              <a:rPr lang="en-US" sz="6500" spc="-162" dirty="0" err="1" smtClean="0">
                <a:solidFill>
                  <a:schemeClr val="accent6"/>
                </a:solidFill>
                <a:latin typeface="Montserrat Bold"/>
              </a:rPr>
              <a:t>as</a:t>
            </a:r>
            <a:endParaRPr lang="en-US" sz="6500" spc="-162" dirty="0">
              <a:solidFill>
                <a:schemeClr val="accent6"/>
              </a:solidFill>
              <a:latin typeface="Montserrat Bold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2640655" y="8648700"/>
            <a:ext cx="3810000" cy="715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 err="1" smtClean="0">
                <a:latin typeface="Montserrat Bold"/>
              </a:rPr>
              <a:t>pequeñ</a:t>
            </a:r>
            <a:r>
              <a:rPr lang="en-US" sz="6500" spc="-162" dirty="0" err="1" smtClean="0">
                <a:solidFill>
                  <a:schemeClr val="accent6"/>
                </a:solidFill>
                <a:latin typeface="Montserrat Bold"/>
              </a:rPr>
              <a:t>a</a:t>
            </a:r>
            <a:endParaRPr lang="en-US" sz="6500" spc="-162" dirty="0">
              <a:solidFill>
                <a:schemeClr val="accent6"/>
              </a:solidFill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32093" y="2132872"/>
            <a:ext cx="5700063" cy="3804792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75117" y="8054340"/>
            <a:ext cx="5469022" cy="715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6"/>
                </a:solidFill>
                <a:latin typeface="Montserrat Bold"/>
              </a:rPr>
              <a:t>El</a:t>
            </a:r>
            <a:r>
              <a:rPr lang="en-US" sz="6499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estudiante</a:t>
            </a:r>
            <a:endParaRPr lang="en-US" sz="6499" spc="-162" dirty="0"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013602" y="8054340"/>
            <a:ext cx="7425369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6"/>
                </a:solidFill>
                <a:latin typeface="Montserrat Bold"/>
              </a:rPr>
              <a:t>Los</a:t>
            </a:r>
            <a:r>
              <a:rPr lang="en-US" sz="6499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estudiante</a:t>
            </a:r>
            <a:r>
              <a:rPr lang="en-US" sz="6499" spc="-162" dirty="0" err="1">
                <a:solidFill>
                  <a:schemeClr val="accent6"/>
                </a:solidFill>
                <a:latin typeface="Montserrat Bold"/>
              </a:rPr>
              <a:t>s</a:t>
            </a:r>
            <a:endParaRPr lang="en-US" sz="6499" spc="-162" dirty="0">
              <a:solidFill>
                <a:schemeClr val="accent6"/>
              </a:solidFill>
              <a:latin typeface="Montserrat Bold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7392859" y="3771900"/>
            <a:ext cx="3311904" cy="1001851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1872659" y="8919304"/>
            <a:ext cx="5469022" cy="715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 err="1" smtClean="0">
                <a:latin typeface="Montserrat Bold"/>
              </a:rPr>
              <a:t>joven</a:t>
            </a:r>
            <a:endParaRPr lang="en-US" sz="6499" spc="-162" dirty="0">
              <a:latin typeface="Montserrat Bold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10011144" y="8919304"/>
            <a:ext cx="7425369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 err="1" smtClean="0">
                <a:latin typeface="Montserrat Bold"/>
              </a:rPr>
              <a:t>jóven</a:t>
            </a:r>
            <a:r>
              <a:rPr lang="en-US" sz="6499" spc="-162" dirty="0" err="1" smtClean="0">
                <a:solidFill>
                  <a:schemeClr val="accent6"/>
                </a:solidFill>
                <a:latin typeface="Montserrat Bold"/>
              </a:rPr>
              <a:t>es</a:t>
            </a:r>
            <a:endParaRPr lang="en-US" sz="6499" spc="-162" dirty="0">
              <a:solidFill>
                <a:schemeClr val="accent6"/>
              </a:solidFill>
              <a:latin typeface="Montserrat Bold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092" y="2132872"/>
            <a:ext cx="5821472" cy="3881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29798" r="13917" b="947"/>
          <a:stretch>
            <a:fillRect/>
          </a:stretch>
        </p:blipFill>
        <p:spPr>
          <a:xfrm>
            <a:off x="2133599" y="1409700"/>
            <a:ext cx="4778889" cy="560687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rcRect t="12757" b="5392"/>
          <a:stretch/>
        </p:blipFill>
        <p:spPr>
          <a:xfrm>
            <a:off x="11277600" y="1409700"/>
            <a:ext cx="4778889" cy="5867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50212" y="8007126"/>
            <a:ext cx="6345662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6"/>
                </a:solidFill>
                <a:latin typeface="Montserrat Bold"/>
              </a:rPr>
              <a:t>La</a:t>
            </a:r>
            <a:r>
              <a:rPr lang="en-US" sz="6499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estudiante</a:t>
            </a:r>
            <a:endParaRPr lang="en-US" sz="6499" spc="-162" dirty="0"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954359" y="8007126"/>
            <a:ext cx="7425369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6"/>
                </a:solidFill>
                <a:latin typeface="Montserrat Bold"/>
              </a:rPr>
              <a:t>Las</a:t>
            </a:r>
            <a:r>
              <a:rPr lang="en-US" sz="6499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estudiante</a:t>
            </a:r>
            <a:r>
              <a:rPr lang="en-US" sz="6499" spc="-162" dirty="0" err="1">
                <a:solidFill>
                  <a:schemeClr val="accent6"/>
                </a:solidFill>
                <a:latin typeface="Montserrat Bold"/>
              </a:rPr>
              <a:t>s</a:t>
            </a:r>
            <a:endParaRPr lang="en-US" sz="6499" spc="-162" dirty="0">
              <a:solidFill>
                <a:schemeClr val="accent6"/>
              </a:solidFill>
              <a:latin typeface="Montserrat Bold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7488048" y="3712209"/>
            <a:ext cx="3311904" cy="1001851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1350212" y="8877300"/>
            <a:ext cx="6345662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 err="1" smtClean="0">
                <a:latin typeface="Montserrat Bold"/>
              </a:rPr>
              <a:t>american</a:t>
            </a:r>
            <a:r>
              <a:rPr lang="en-US" sz="6499" spc="-162" dirty="0" err="1" smtClean="0">
                <a:solidFill>
                  <a:schemeClr val="accent6"/>
                </a:solidFill>
                <a:latin typeface="Montserrat Bold"/>
              </a:rPr>
              <a:t>a</a:t>
            </a:r>
            <a:endParaRPr lang="en-US" sz="6499" spc="-162" dirty="0">
              <a:solidFill>
                <a:schemeClr val="accent6"/>
              </a:solidFill>
              <a:latin typeface="Montserrat Bold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9954359" y="8877300"/>
            <a:ext cx="7425369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 err="1" smtClean="0">
                <a:latin typeface="Montserrat Bold"/>
              </a:rPr>
              <a:t>american</a:t>
            </a:r>
            <a:r>
              <a:rPr lang="en-US" sz="6499" spc="-162" dirty="0" err="1" smtClean="0">
                <a:solidFill>
                  <a:schemeClr val="accent6"/>
                </a:solidFill>
                <a:latin typeface="Montserrat Bold"/>
              </a:rPr>
              <a:t>as</a:t>
            </a:r>
            <a:endParaRPr lang="en-US" sz="6499" spc="-162" dirty="0">
              <a:solidFill>
                <a:schemeClr val="accent6"/>
              </a:solidFill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920823"/>
              </p:ext>
            </p:extLst>
          </p:nvPr>
        </p:nvGraphicFramePr>
        <p:xfrm>
          <a:off x="9167812" y="1219200"/>
          <a:ext cx="7620000" cy="7848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/>
                <a:gridCol w="3200400"/>
              </a:tblGrid>
              <a:tr h="2468144">
                <a:tc>
                  <a:txBody>
                    <a:bodyPr/>
                    <a:lstStyle/>
                    <a:p>
                      <a:pPr algn="ctr"/>
                      <a:r>
                        <a:rPr lang="es-ES" sz="32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PLURAL</a:t>
                      </a:r>
                      <a:endParaRPr lang="es-ES" sz="3200" dirty="0"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noFill/>
                  </a:tcPr>
                </a:tc>
              </a:tr>
              <a:tr h="2912311">
                <a:tc>
                  <a:txBody>
                    <a:bodyPr/>
                    <a:lstStyle/>
                    <a:p>
                      <a:pPr algn="ctr"/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Los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niñ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os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pequeñ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os</a:t>
                      </a:r>
                    </a:p>
                    <a:p>
                      <a:pPr algn="ctr"/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Los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profesor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es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jóven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es</a:t>
                      </a:r>
                      <a:endParaRPr lang="es-ES" sz="25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200" dirty="0" smtClean="0">
                          <a:solidFill>
                            <a:schemeClr val="bg1"/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MASCULINO</a:t>
                      </a:r>
                      <a:endParaRPr lang="es-ES" sz="3200" dirty="0">
                        <a:solidFill>
                          <a:schemeClr val="bg1"/>
                        </a:solidFill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2468144">
                <a:tc>
                  <a:txBody>
                    <a:bodyPr/>
                    <a:lstStyle/>
                    <a:p>
                      <a:pPr algn="ctr"/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L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as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niñ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as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pequeñ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as</a:t>
                      </a:r>
                    </a:p>
                    <a:p>
                      <a:pPr algn="ctr"/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L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as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profesor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as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jóven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es</a:t>
                      </a:r>
                      <a:endParaRPr lang="es-ES" sz="25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solidFill>
                      <a:srgbClr val="D0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200" dirty="0" smtClean="0">
                          <a:solidFill>
                            <a:schemeClr val="bg1"/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FEMENINO</a:t>
                      </a:r>
                      <a:endParaRPr lang="es-ES" sz="3200" dirty="0">
                        <a:solidFill>
                          <a:schemeClr val="bg1"/>
                        </a:solidFill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solidFill>
                      <a:srgbClr val="93CDD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02635"/>
              </p:ext>
            </p:extLst>
          </p:nvPr>
        </p:nvGraphicFramePr>
        <p:xfrm>
          <a:off x="1524000" y="1219200"/>
          <a:ext cx="7620000" cy="7848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4267200"/>
              </a:tblGrid>
              <a:tr h="2468144">
                <a:tc>
                  <a:txBody>
                    <a:bodyPr/>
                    <a:lstStyle/>
                    <a:p>
                      <a:pPr algn="ctr"/>
                      <a:endParaRPr lang="es-ES" dirty="0"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2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SINGULAR</a:t>
                      </a:r>
                      <a:endParaRPr lang="es-ES" sz="3200" dirty="0"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2912311">
                <a:tc>
                  <a:txBody>
                    <a:bodyPr/>
                    <a:lstStyle/>
                    <a:p>
                      <a:pPr algn="ctr"/>
                      <a:r>
                        <a:rPr lang="es-ES" sz="3200" dirty="0" smtClean="0">
                          <a:solidFill>
                            <a:schemeClr val="bg1"/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MASCULINO</a:t>
                      </a:r>
                      <a:endParaRPr lang="es-ES" sz="3200" dirty="0">
                        <a:solidFill>
                          <a:schemeClr val="bg1"/>
                        </a:solidFill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El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niñ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o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pequeñ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o</a:t>
                      </a:r>
                    </a:p>
                    <a:p>
                      <a:pPr algn="ctr"/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El 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profeso</a:t>
                      </a:r>
                      <a:r>
                        <a:rPr lang="es-ES" sz="2500" dirty="0" smtClean="0">
                          <a:solidFill>
                            <a:schemeClr val="tx1"/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r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jove</a:t>
                      </a:r>
                      <a:r>
                        <a:rPr lang="es-ES" sz="2500" dirty="0" smtClean="0">
                          <a:solidFill>
                            <a:schemeClr val="tx1"/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n</a:t>
                      </a:r>
                      <a:endParaRPr lang="es-ES" sz="2500" dirty="0">
                        <a:solidFill>
                          <a:schemeClr val="tx1"/>
                        </a:solidFill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68144">
                <a:tc>
                  <a:txBody>
                    <a:bodyPr/>
                    <a:lstStyle/>
                    <a:p>
                      <a:pPr algn="ctr"/>
                      <a:r>
                        <a:rPr lang="es-ES" sz="3200" dirty="0" smtClean="0">
                          <a:solidFill>
                            <a:schemeClr val="bg1"/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FEMENINO</a:t>
                      </a:r>
                      <a:endParaRPr lang="es-ES" sz="3200" dirty="0">
                        <a:solidFill>
                          <a:schemeClr val="bg1"/>
                        </a:solidFill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La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niñ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a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pequeñ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a</a:t>
                      </a:r>
                    </a:p>
                    <a:p>
                      <a:pPr algn="ctr"/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L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a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profesor</a:t>
                      </a:r>
                      <a:r>
                        <a:rPr lang="es-E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a</a:t>
                      </a:r>
                      <a:r>
                        <a:rPr lang="es-ES" sz="2500" dirty="0" smtClean="0">
                          <a:latin typeface="Montserrat Bold" panose="020B0604020202020204" charset="0"/>
                          <a:cs typeface="Mongolian Baiti" panose="03000500000000000000" pitchFamily="66" charset="0"/>
                        </a:rPr>
                        <a:t> joven</a:t>
                      </a:r>
                      <a:endParaRPr lang="es-ES" sz="2500" dirty="0">
                        <a:solidFill>
                          <a:schemeClr val="tx1"/>
                        </a:solidFill>
                        <a:latin typeface="Montserrat Bold" panose="020B0604020202020204" charset="0"/>
                        <a:cs typeface="Mongolian Baiti" panose="03000500000000000000" pitchFamily="66" charset="0"/>
                      </a:endParaRPr>
                    </a:p>
                  </a:txBody>
                  <a:tcPr anchor="ctr">
                    <a:solidFill>
                      <a:srgbClr val="D0E8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03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74</Words>
  <Application>Microsoft Office PowerPoint</Application>
  <PresentationFormat>Personalizado</PresentationFormat>
  <Paragraphs>41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Montserrat Bold</vt:lpstr>
      <vt:lpstr>Calibri</vt:lpstr>
      <vt:lpstr>Arial</vt:lpstr>
      <vt:lpstr>Mongolian Baiti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 DEF NUEVO COMPAÑEROS</dc:title>
  <cp:lastModifiedBy>Estefanía Velasco</cp:lastModifiedBy>
  <cp:revision>24</cp:revision>
  <dcterms:created xsi:type="dcterms:W3CDTF">2006-08-16T00:00:00Z</dcterms:created>
  <dcterms:modified xsi:type="dcterms:W3CDTF">2022-05-18T18:57:35Z</dcterms:modified>
  <dc:identifier>DAElTHpWEqc</dc:identifier>
</cp:coreProperties>
</file>